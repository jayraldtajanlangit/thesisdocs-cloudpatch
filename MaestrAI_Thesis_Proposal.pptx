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6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7409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Greet the panel. State the title and that this is a proposal in Computer Science. Introduce the three proponents and the adviser, Engr. Bayocot.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real classroom situation: handwritten code, hours of manual grading, late and inconsistent feedback, and the effect on trust, motivation, and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Group them mentally: it is paper-based and manual, it is slow, it is inconsistent across graders, and that inconsistency and delay hurt trust, motivation, and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general aim clearly: a head-to-head comparison of MaestrAI versus the existing GradeChum tool. Tell the panel the specific objectives and measurement criteria are still being finalized — the bracketed items are placeholders to fill in once the methodology is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two beneficiaries you named: instructors get reduced workload and checking time; students get more timely and consistent feedback, which is the core motivation for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 the work honestly: GradeChum is a real, existing AI grading tool (general purpose). MaestrAI is your proposed, programming-specific, vision-based system. The point of the study is to measure which grades programming work better — that result does not exist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goals, not guarantees — this is a proposal. The headline deliverable is concrete evidence on which system grades programming assessments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panel and open the floor. Have the problem statement and the comparison rationale ready for likely questions about scope and 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10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0E7C86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3291840"/>
            <a:ext cx="4023360" cy="4023360"/>
          </a:xfrm>
          <a:prstGeom prst="ellipse">
            <a:avLst/>
          </a:prstGeom>
          <a:solidFill>
            <a:srgbClr val="E8943A">
              <a:alpha val="14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646920" y="822960"/>
            <a:ext cx="1554480" cy="1554480"/>
          </a:xfrm>
          <a:prstGeom prst="ellipse">
            <a:avLst/>
          </a:prstGeom>
          <a:solidFill>
            <a:srgbClr val="E8943A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118872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PROPOSAL  •  COMPUTER SCIENCE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3258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MaestrAI</a:t>
            </a:r>
            <a:endParaRPr lang="en-US" sz="72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2300" dirty="0">
                <a:solidFill>
                  <a:srgbClr val="EA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Vision-based Handwritten Assessment Grading and Feedback for Programming Subjects</a:t>
            </a:r>
            <a:endParaRPr lang="en-US" sz="2300" dirty="0"/>
          </a:p>
        </p:txBody>
      </p:sp>
      <p:sp>
        <p:nvSpPr>
          <p:cNvPr id="9" name="Shape 6"/>
          <p:cNvSpPr/>
          <p:nvPr/>
        </p:nvSpPr>
        <p:spPr>
          <a:xfrm>
            <a:off x="822960" y="4343400"/>
            <a:ext cx="10515600" cy="1691640"/>
          </a:xfrm>
          <a:prstGeom prst="roundRect">
            <a:avLst>
              <a:gd name="adj" fmla="val 6486"/>
            </a:avLst>
          </a:prstGeom>
          <a:solidFill>
            <a:srgbClr val="0A2E3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43000" y="45262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Proponents
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Jayrald B. Tajanlangit   •   Francis Marc Nikko Diwa   •   John Cale N. Nombrado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43000" y="5285232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Adviser
</a:t>
            </a:r>
            <a:endParaRPr lang="en-US" sz="1200" dirty="0"/>
          </a:p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Engr. Violdan Bayocot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66928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7772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74520" y="62179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OF THE STUDY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828800" y="868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study matters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828800"/>
            <a:ext cx="676656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43000" y="2148840"/>
            <a:ext cx="6126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many Computer Science classes, instructors still grade handwritten code on paper. Marking these assessments by hand takes hours every week, and feedback often reaches students only days or weeks later.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1143000" y="379476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grades can vary between different graders, inconsistent grading undermines student trust, late feedback weakens motivation, and learning suffers when feedback does not arrive on time.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7955280" y="1828800"/>
            <a:ext cx="3383280" cy="1298448"/>
          </a:xfrm>
          <a:prstGeom prst="roundRect">
            <a:avLst>
              <a:gd name="adj" fmla="val 7042"/>
            </a:avLst>
          </a:prstGeom>
          <a:solidFill>
            <a:srgbClr val="EAF3F4"/>
          </a:solidFill>
          <a:ln/>
        </p:spPr>
      </p:sp>
      <p:sp>
        <p:nvSpPr>
          <p:cNvPr id="10" name="Shape 7"/>
          <p:cNvSpPr/>
          <p:nvPr/>
        </p:nvSpPr>
        <p:spPr>
          <a:xfrm>
            <a:off x="8183880" y="2139696"/>
            <a:ext cx="676656" cy="67665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2304288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0068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on paper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7955280" y="3310128"/>
            <a:ext cx="3383280" cy="1298448"/>
          </a:xfrm>
          <a:prstGeom prst="roundRect">
            <a:avLst>
              <a:gd name="adj" fmla="val 7042"/>
            </a:avLst>
          </a:prstGeom>
          <a:solidFill>
            <a:srgbClr val="EA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183880" y="3621024"/>
            <a:ext cx="676656" cy="67665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3785616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006840" y="349300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of manual work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7955280" y="4791456"/>
            <a:ext cx="3383280" cy="1298448"/>
          </a:xfrm>
          <a:prstGeom prst="roundRect">
            <a:avLst>
              <a:gd name="adj" fmla="val 7042"/>
            </a:avLst>
          </a:prstGeom>
          <a:solidFill>
            <a:srgbClr val="EAF3F4"/>
          </a:solidFill>
          <a:ln/>
        </p:spPr>
      </p:sp>
      <p:sp>
        <p:nvSpPr>
          <p:cNvPr id="18" name="Shape 13"/>
          <p:cNvSpPr/>
          <p:nvPr/>
        </p:nvSpPr>
        <p:spPr>
          <a:xfrm>
            <a:off x="8183880" y="5102352"/>
            <a:ext cx="676656" cy="67665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5266944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006840" y="4974336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 by grader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66928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7772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74520" y="62179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THE PROBLEM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828800" y="868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problems we are addressing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874520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51560" y="2075688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957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37360" y="192024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Instructors grade handwritten code on paper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822960" y="2935224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1051560" y="3136392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64408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37360" y="2980944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grading takes hours every week</a:t>
            </a:r>
            <a:endParaRPr lang="en-US" sz="1550" dirty="0"/>
          </a:p>
        </p:txBody>
      </p:sp>
      <p:sp>
        <p:nvSpPr>
          <p:cNvPr id="14" name="Shape 9"/>
          <p:cNvSpPr/>
          <p:nvPr/>
        </p:nvSpPr>
        <p:spPr>
          <a:xfrm>
            <a:off x="822960" y="3995928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1051560" y="4197096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9576" y="4325112"/>
            <a:ext cx="256032" cy="256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737360" y="404164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arrives days or weeks late</a:t>
            </a:r>
            <a:endParaRPr lang="en-US" sz="1550" dirty="0"/>
          </a:p>
        </p:txBody>
      </p:sp>
      <p:sp>
        <p:nvSpPr>
          <p:cNvPr id="18" name="Shape 12"/>
          <p:cNvSpPr/>
          <p:nvPr/>
        </p:nvSpPr>
        <p:spPr>
          <a:xfrm>
            <a:off x="822960" y="5056632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1051560" y="5257800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9576" y="5385816"/>
            <a:ext cx="256032" cy="25603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737360" y="5102352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 vary between different graders</a:t>
            </a:r>
            <a:endParaRPr lang="en-US" sz="1550" dirty="0"/>
          </a:p>
        </p:txBody>
      </p:sp>
      <p:sp>
        <p:nvSpPr>
          <p:cNvPr id="22" name="Shape 15"/>
          <p:cNvSpPr/>
          <p:nvPr/>
        </p:nvSpPr>
        <p:spPr>
          <a:xfrm>
            <a:off x="6355080" y="1874520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583680" y="2075688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1696" y="2203704"/>
            <a:ext cx="256032" cy="256032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269480" y="1920240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grading undermines student trust</a:t>
            </a:r>
            <a:endParaRPr lang="en-US" sz="1550" dirty="0"/>
          </a:p>
        </p:txBody>
      </p:sp>
      <p:sp>
        <p:nvSpPr>
          <p:cNvPr id="26" name="Shape 18"/>
          <p:cNvSpPr/>
          <p:nvPr/>
        </p:nvSpPr>
        <p:spPr>
          <a:xfrm>
            <a:off x="6355080" y="2935224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583680" y="3136392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1696" y="3264408"/>
            <a:ext cx="256032" cy="256032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269480" y="2980944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feedback weakens student motivation</a:t>
            </a:r>
            <a:endParaRPr lang="en-US" sz="1550" dirty="0"/>
          </a:p>
        </p:txBody>
      </p:sp>
      <p:sp>
        <p:nvSpPr>
          <p:cNvPr id="30" name="Shape 21"/>
          <p:cNvSpPr/>
          <p:nvPr/>
        </p:nvSpPr>
        <p:spPr>
          <a:xfrm>
            <a:off x="6355080" y="3995928"/>
            <a:ext cx="502920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583680" y="4197096"/>
            <a:ext cx="512064" cy="512064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11696" y="4325112"/>
            <a:ext cx="256032" cy="256032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269480" y="4041648"/>
            <a:ext cx="3977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suffers without timely feedback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66928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7772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74520" y="62179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 OF THE STUDY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828800" y="868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aim to find out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874520"/>
            <a:ext cx="10515600" cy="1828800"/>
          </a:xfrm>
          <a:prstGeom prst="roundRect">
            <a:avLst>
              <a:gd name="adj" fmla="val 5000"/>
            </a:avLst>
          </a:prstGeom>
          <a:solidFill>
            <a:srgbClr val="0D3B45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4300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OBJECTIVE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246888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8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determine whether </a:t>
            </a:r>
            <a:r>
              <a:rPr lang="en-US" sz="2100" b="1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MaestrAI</a:t>
            </a: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the existing </a:t>
            </a:r>
            <a:r>
              <a:rPr lang="en-US" sz="2100" b="1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GradeChum</a:t>
            </a:r>
            <a:r>
              <a:rPr lang="en-US" sz="2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system performs better at grading handwritten programming assessments.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822960" y="3931920"/>
            <a:ext cx="1051560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8943A"/>
            </a:solidFill>
            <a:prstDash val="dash"/>
          </a:ln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4224528"/>
            <a:ext cx="566928" cy="566928"/>
          </a:xfrm>
          <a:prstGeom prst="ellipse">
            <a:avLst/>
          </a:prstGeom>
          <a:solidFill>
            <a:srgbClr val="EAF3F4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296" y="4352544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420624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kern="0" spc="10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OBJECTIVES  —  to be finalized with your adviser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783080" y="4617720"/>
            <a:ext cx="9235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0"/>
              </a:lnSpc>
              <a:buSzPct val="100000"/>
              <a:buChar char="•"/>
            </a:pPr>
            <a:r>
              <a:rPr lang="en-US" sz="1500" i="1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Define the criteria for comparison — e.g. accuracy of grading, time taken, consistency of scores, quality of feedback ]</a:t>
            </a:r>
            <a:endParaRPr lang="en-US" sz="15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Specify the dataset / subjects and the programming assessments to be used ]</a:t>
            </a:r>
            <a:endParaRPr lang="en-US" sz="1500" dirty="0"/>
          </a:p>
          <a:p>
            <a:pPr marL="0" indent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State how MaestrAI and GradeChum results will be measured and compared ]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66928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7772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74520" y="62179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OF THE STUDY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828800" y="868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benefits and why it matters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965960"/>
            <a:ext cx="513892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34440" y="2377440"/>
            <a:ext cx="1143000" cy="11430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" y="2679192"/>
            <a:ext cx="539496" cy="5394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3703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Teachers &amp; Instructors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234440" y="434340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65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the workload and checking time spent grading handwritten programming assessments, freeing time for actual teaching and student support.</a:t>
            </a:r>
            <a:endParaRPr lang="en-US" sz="1650" dirty="0"/>
          </a:p>
        </p:txBody>
      </p:sp>
      <p:sp>
        <p:nvSpPr>
          <p:cNvPr id="11" name="Shape 7"/>
          <p:cNvSpPr/>
          <p:nvPr/>
        </p:nvSpPr>
        <p:spPr>
          <a:xfrm>
            <a:off x="6309360" y="1965960"/>
            <a:ext cx="513892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720840" y="2377440"/>
            <a:ext cx="1143000" cy="11430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2592" y="2679192"/>
            <a:ext cx="539496" cy="5394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20840" y="3703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Students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6720840" y="434340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500"/>
              </a:lnSpc>
              <a:buNone/>
            </a:pPr>
            <a:r>
              <a:rPr lang="en-US" sz="165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faster, more consistent feedback so students can learn from their mistakes while the material is still fresh.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66928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7772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74520" y="62179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CONTEXT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828800" y="868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GradeChum vs MaestrAI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874520"/>
            <a:ext cx="5138928" cy="3703320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143000" y="2103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GradeChum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14300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  •  BASELINE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143000" y="29718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assistant that grades handwritten tests on paper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multiple choice, problem solving, and essays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the first AI-powered grading tool in the Philippines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General-purpose across subjects — not specialised for code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309360" y="1874520"/>
            <a:ext cx="5029200" cy="3703320"/>
          </a:xfrm>
          <a:prstGeom prst="roundRect">
            <a:avLst>
              <a:gd name="adj" fmla="val 2469"/>
            </a:avLst>
          </a:prstGeom>
          <a:solidFill>
            <a:srgbClr val="0D3B45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29400" y="21031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MaestrAI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62940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SYSTEM  •  THIS STUDY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629400" y="2971800"/>
            <a:ext cx="4480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Vision-based grading of handwritten assessments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specifically on programming subjects</a:t>
            </a:r>
            <a:endParaRPr lang="en-US" sz="1450" dirty="0"/>
          </a:p>
          <a:p>
            <a:pPr marL="342900" indent="-342900">
              <a:lnSpc>
                <a:spcPts val="21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Aims to deliver grades and feedback to students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GradeChum details from gradechum.com (verified). MaestrAI details reflect this proposal; comparative performance is what the study will measure.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A94AAC-5252-FC1E-20DC-2739B80A2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27" y="2778911"/>
            <a:ext cx="9146332" cy="13001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3DE83A3-5CBB-35C6-3D17-1B9F74C8E76D}"/>
              </a:ext>
            </a:extLst>
          </p:cNvPr>
          <p:cNvSpPr txBox="1"/>
          <p:nvPr/>
        </p:nvSpPr>
        <p:spPr>
          <a:xfrm>
            <a:off x="4729621" y="1004988"/>
            <a:ext cx="3012675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>
                <a:ea typeface="Calibri"/>
                <a:cs typeface="Calibri"/>
              </a:rPr>
              <a:t>Conceptual </a:t>
            </a:r>
            <a:r>
              <a:rPr lang="en-US">
                <a:latin typeface="Times New Roman"/>
                <a:ea typeface="Calibri"/>
                <a:cs typeface="Times New Roman"/>
              </a:rPr>
              <a:t>Diagram</a:t>
            </a:r>
            <a:endParaRPr lang="en-US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39861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C5C42B7-20F9-CE09-360C-06C64DCF3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576" y="857250"/>
            <a:ext cx="7385957" cy="5143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CDD3661-34BC-7330-8529-45E02A272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576" y="1114622"/>
            <a:ext cx="7385957" cy="51435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825C5E4-B03A-BC5F-183B-C99C5AF22B3D}"/>
              </a:ext>
            </a:extLst>
          </p:cNvPr>
          <p:cNvSpPr txBox="1"/>
          <p:nvPr/>
        </p:nvSpPr>
        <p:spPr>
          <a:xfrm>
            <a:off x="3048778" y="230546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Architectural</a:t>
            </a:r>
            <a:r>
              <a:rPr lang="en-US" sz="18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 Diagram</a:t>
            </a:r>
            <a:r>
              <a:rPr lang="en-AU" sz="1800" b="0" i="0" dirty="0"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​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8298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66928"/>
            <a:ext cx="868680" cy="868680"/>
          </a:xfrm>
          <a:prstGeom prst="ellipse">
            <a:avLst/>
          </a:prstGeom>
          <a:solidFill>
            <a:srgbClr val="0E7C86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777240"/>
            <a:ext cx="448056" cy="4480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74520" y="62179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828800" y="868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hope to achieve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822960" y="1920240"/>
            <a:ext cx="5029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15568" y="2231136"/>
            <a:ext cx="777240" cy="777240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441448"/>
            <a:ext cx="356616" cy="3566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10312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grading time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2103120" y="26334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hours instructors currently spend marking handwritten programming work.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55080" y="1920240"/>
            <a:ext cx="5029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647688" y="2231136"/>
            <a:ext cx="777240" cy="777240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2441448"/>
            <a:ext cx="356616" cy="3566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63524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scores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7635240" y="26334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variation that happens between different human graders.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22960" y="3977640"/>
            <a:ext cx="5029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1115568" y="4288536"/>
            <a:ext cx="777240" cy="777240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498848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103120" y="4251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Timelier feedback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2103120" y="46908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students receive results sooner, while the lesson is still fresh.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6355080" y="3977640"/>
            <a:ext cx="502920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647688" y="4288536"/>
            <a:ext cx="777240" cy="777240"/>
          </a:xfrm>
          <a:prstGeom prst="ellipse">
            <a:avLst/>
          </a:prstGeom>
          <a:solidFill>
            <a:srgbClr val="E8943A"/>
          </a:solidFill>
          <a:ln/>
        </p:spPr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4498848"/>
            <a:ext cx="356616" cy="3566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635240" y="4251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2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clear comparison</a:t>
            </a:r>
            <a:endParaRPr lang="en-US" sz="1900" dirty="0"/>
          </a:p>
        </p:txBody>
      </p:sp>
      <p:sp>
        <p:nvSpPr>
          <p:cNvPr id="25" name="Text 18"/>
          <p:cNvSpPr/>
          <p:nvPr/>
        </p:nvSpPr>
        <p:spPr>
          <a:xfrm>
            <a:off x="7635240" y="4690872"/>
            <a:ext cx="3520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whether MaestrAI or GradeChum grades programming work better.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Anticipated outcomes for a proposal — results will depend on the methodology and evaluation once carried 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3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3657600"/>
            <a:ext cx="4937760" cy="4937760"/>
          </a:xfrm>
          <a:prstGeom prst="ellipse">
            <a:avLst/>
          </a:prstGeom>
          <a:solidFill>
            <a:srgbClr val="0E7C86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E8943A">
              <a:alpha val="1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394960" y="1051560"/>
            <a:ext cx="1371600" cy="1371600"/>
          </a:xfrm>
          <a:prstGeom prst="ellipse">
            <a:avLst/>
          </a:prstGeom>
          <a:solidFill>
            <a:srgbClr val="E8943A"/>
          </a:solidFill>
          <a:ln/>
          <a:effectLst>
            <a:outerShdw blurRad="114300" dist="38100" dir="5400000" algn="bl" rotWithShape="0">
              <a:srgbClr val="0A2E36">
                <a:alpha val="16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1389888"/>
            <a:ext cx="694944" cy="6949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6C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484632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500" dirty="0">
                <a:solidFill>
                  <a:srgbClr val="EA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Jayrald B. Tajanlangit   •   Francis Marc Nikko Diwa   •   John Cale N. Nombrado</a:t>
            </a:r>
            <a:endParaRPr lang="en-US" sz="1500" dirty="0"/>
          </a:p>
          <a:p>
            <a:pPr marL="0" indent="0" algn="ctr">
              <a:lnSpc>
                <a:spcPts val="2600"/>
              </a:lnSpc>
              <a:buNone/>
            </a:pPr>
            <a:r>
              <a:rPr lang="en-US" sz="1400" dirty="0">
                <a:solidFill>
                  <a:srgbClr val="5A6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Adviser:  Engr. Violdan Bayocot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5B6EEDB-7115-4964-B242-FF86002EFCC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e146b411-72c7-4a7a-88b8-11563c691a1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804</Words>
  <Application>Microsoft Office PowerPoint</Application>
  <PresentationFormat>Widescreen</PresentationFormat>
  <Paragraphs>84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MaestrAI - Thesis Proposal</dc:title>
  <dc:subject>PptxGenJS Presentation</dc:subject>
  <dc:creator>Tajanlangit, Diwa, Nombrado</dc:creator>
  <cp:lastModifiedBy>Jayrald Tajanlangit</cp:lastModifiedBy>
  <cp:revision>2</cp:revision>
  <dcterms:created xsi:type="dcterms:W3CDTF">2026-06-24T06:02:12Z</dcterms:created>
  <dcterms:modified xsi:type="dcterms:W3CDTF">2026-06-24T07:44:19Z</dcterms:modified>
</cp:coreProperties>
</file>