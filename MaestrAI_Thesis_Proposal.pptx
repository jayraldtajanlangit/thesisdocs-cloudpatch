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5" r:id="rId6"/>
    <p:sldId id="266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409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Greet the panel. State the title and that this is a proposal in Computer Science. Introduce the three proponents and the adviser, Engr. Bayocot.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real classroom situation: handwritten code, hours of manual grading, late and inconsistent feedback, and the effect on trust, motivation, and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problem. Group them mentally: it is paper-based and manual, it is slow, it is inconsistent across graders, and that inconsistency and delay hurt trust, motivation, and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two beneficiaries you named: instructors get reduced workload and checking time; students get more timely and consistent feedback, which is the core motivation for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goals, not guarantees — this is a proposal. The headline deliverable is concrete evidence on which system grades programming assessments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 and open the floor. Have the problem statement and the comparison rationale ready for likely questions about scope and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0E7C8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4023360" cy="4023360"/>
          </a:xfrm>
          <a:prstGeom prst="ellipse">
            <a:avLst/>
          </a:prstGeom>
          <a:solidFill>
            <a:srgbClr val="E8943A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822960"/>
            <a:ext cx="1554480" cy="1554480"/>
          </a:xfrm>
          <a:prstGeom prst="ellipse">
            <a:avLst/>
          </a:prstGeom>
          <a:solidFill>
            <a:srgbClr val="E8943A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11887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6C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PROPOSAL  •  COMPUTER SCIENCE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3258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MaestrAI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30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Handwritten Assessment Grading and Feedback for Programming Subjects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822960" y="4343400"/>
            <a:ext cx="10515600" cy="1691640"/>
          </a:xfrm>
          <a:prstGeom prst="roundRect">
            <a:avLst>
              <a:gd name="adj" fmla="val 6486"/>
            </a:avLst>
          </a:prstGeom>
          <a:solidFill>
            <a:srgbClr val="0A2E3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45262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6C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Proponents
</a:t>
            </a:r>
            <a:endParaRPr lang="en-US" sz="12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Jayrald B. Tajanlangit   •   Francis Marc Nikko Diwa   •   John Cale N. Nombrado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3000" y="528523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6C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
</a:t>
            </a:r>
            <a:endParaRPr lang="en-US" sz="12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Engr. Violdan Bayocot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868680" cy="868680"/>
          </a:xfrm>
          <a:prstGeom prst="ellipse">
            <a:avLst/>
          </a:prstGeom>
          <a:solidFill>
            <a:srgbClr val="0E7C86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7772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6217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OF THE STUDY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828800" y="8686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study matters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822960" y="1828800"/>
            <a:ext cx="67665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143000" y="214884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many Computer Science classes, instructors still grade handwritten code on paper. Marking these assessments by hand takes hours every week, and feedback often reaches students only days or weeks later.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43000" y="379476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grades can vary between different graders, inconsistent grading undermines student trust, late feedback weakens motivation, and learning suffers when feedback does not arrive on time.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55280" y="1828800"/>
            <a:ext cx="3383280" cy="1298448"/>
          </a:xfrm>
          <a:prstGeom prst="roundRect">
            <a:avLst>
              <a:gd name="adj" fmla="val 7042"/>
            </a:avLst>
          </a:prstGeom>
          <a:solidFill>
            <a:srgbClr val="EAF3F4"/>
          </a:solidFill>
          <a:ln/>
        </p:spPr>
      </p:sp>
      <p:sp>
        <p:nvSpPr>
          <p:cNvPr id="10" name="Shape 7"/>
          <p:cNvSpPr/>
          <p:nvPr/>
        </p:nvSpPr>
        <p:spPr>
          <a:xfrm>
            <a:off x="8183880" y="2139696"/>
            <a:ext cx="676656" cy="67665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230428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006840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on paper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955280" y="3310128"/>
            <a:ext cx="3383280" cy="1298448"/>
          </a:xfrm>
          <a:prstGeom prst="roundRect">
            <a:avLst>
              <a:gd name="adj" fmla="val 7042"/>
            </a:avLst>
          </a:prstGeom>
          <a:solidFill>
            <a:srgbClr val="EA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183880" y="3621024"/>
            <a:ext cx="676656" cy="67665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3785616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06840" y="349300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manual work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7955280" y="4791456"/>
            <a:ext cx="3383280" cy="1298448"/>
          </a:xfrm>
          <a:prstGeom prst="roundRect">
            <a:avLst>
              <a:gd name="adj" fmla="val 7042"/>
            </a:avLst>
          </a:prstGeom>
          <a:solidFill>
            <a:srgbClr val="EAF3F4"/>
          </a:solidFill>
          <a:ln/>
        </p:spPr>
      </p:sp>
      <p:sp>
        <p:nvSpPr>
          <p:cNvPr id="18" name="Shape 13"/>
          <p:cNvSpPr/>
          <p:nvPr/>
        </p:nvSpPr>
        <p:spPr>
          <a:xfrm>
            <a:off x="8183880" y="5102352"/>
            <a:ext cx="676656" cy="67665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526694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06840" y="4974336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by grader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868680" cy="868680"/>
          </a:xfrm>
          <a:prstGeom prst="ellipse">
            <a:avLst/>
          </a:prstGeom>
          <a:solidFill>
            <a:srgbClr val="0E7C86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7772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6217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THE PROBLEM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828800" y="8686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problems we are addressing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822960" y="1874520"/>
            <a:ext cx="50292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51560" y="2075688"/>
            <a:ext cx="512064" cy="512064"/>
          </a:xfrm>
          <a:prstGeom prst="ellipse">
            <a:avLst/>
          </a:prstGeom>
          <a:solidFill>
            <a:srgbClr val="E8943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576" y="22037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19202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grade handwritten code on paper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822960" y="2935224"/>
            <a:ext cx="50292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51560" y="3136392"/>
            <a:ext cx="512064" cy="512064"/>
          </a:xfrm>
          <a:prstGeom prst="ellipse">
            <a:avLst/>
          </a:prstGeom>
          <a:solidFill>
            <a:srgbClr val="E8943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6440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37360" y="2980944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grading takes hours every week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822960" y="3995928"/>
            <a:ext cx="50292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1051560" y="4197096"/>
            <a:ext cx="512064" cy="512064"/>
          </a:xfrm>
          <a:prstGeom prst="ellipse">
            <a:avLst/>
          </a:prstGeom>
          <a:solidFill>
            <a:srgbClr val="E8943A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576" y="4325112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37360" y="404164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arrives days or weeks late</a:t>
            </a:r>
            <a:endParaRPr lang="en-US" sz="1550" dirty="0"/>
          </a:p>
        </p:txBody>
      </p:sp>
      <p:sp>
        <p:nvSpPr>
          <p:cNvPr id="18" name="Shape 12"/>
          <p:cNvSpPr/>
          <p:nvPr/>
        </p:nvSpPr>
        <p:spPr>
          <a:xfrm>
            <a:off x="822960" y="5056632"/>
            <a:ext cx="50292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1051560" y="5257800"/>
            <a:ext cx="512064" cy="512064"/>
          </a:xfrm>
          <a:prstGeom prst="ellipse">
            <a:avLst/>
          </a:prstGeom>
          <a:solidFill>
            <a:srgbClr val="E8943A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9576" y="5385816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737360" y="510235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vary between different graders</a:t>
            </a:r>
            <a:endParaRPr lang="en-US" sz="1550" dirty="0"/>
          </a:p>
        </p:txBody>
      </p:sp>
      <p:sp>
        <p:nvSpPr>
          <p:cNvPr id="22" name="Shape 15"/>
          <p:cNvSpPr/>
          <p:nvPr/>
        </p:nvSpPr>
        <p:spPr>
          <a:xfrm>
            <a:off x="6355080" y="1874520"/>
            <a:ext cx="50292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583680" y="2075688"/>
            <a:ext cx="512064" cy="512064"/>
          </a:xfrm>
          <a:prstGeom prst="ellipse">
            <a:avLst/>
          </a:prstGeom>
          <a:solidFill>
            <a:srgbClr val="E8943A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1696" y="2203704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69480" y="19202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grading undermines student trust</a:t>
            </a:r>
            <a:endParaRPr lang="en-US" sz="1550" dirty="0"/>
          </a:p>
        </p:txBody>
      </p:sp>
      <p:sp>
        <p:nvSpPr>
          <p:cNvPr id="26" name="Shape 18"/>
          <p:cNvSpPr/>
          <p:nvPr/>
        </p:nvSpPr>
        <p:spPr>
          <a:xfrm>
            <a:off x="6355080" y="2935224"/>
            <a:ext cx="50292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583680" y="3136392"/>
            <a:ext cx="512064" cy="512064"/>
          </a:xfrm>
          <a:prstGeom prst="ellipse">
            <a:avLst/>
          </a:prstGeom>
          <a:solidFill>
            <a:srgbClr val="E8943A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1696" y="3264408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269480" y="2980944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feedback weakens student motivation</a:t>
            </a:r>
            <a:endParaRPr lang="en-US" sz="1550" dirty="0"/>
          </a:p>
        </p:txBody>
      </p:sp>
      <p:sp>
        <p:nvSpPr>
          <p:cNvPr id="30" name="Shape 21"/>
          <p:cNvSpPr/>
          <p:nvPr/>
        </p:nvSpPr>
        <p:spPr>
          <a:xfrm>
            <a:off x="6355080" y="3995928"/>
            <a:ext cx="50292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583680" y="4197096"/>
            <a:ext cx="512064" cy="512064"/>
          </a:xfrm>
          <a:prstGeom prst="ellipse">
            <a:avLst/>
          </a:prstGeom>
          <a:solidFill>
            <a:srgbClr val="E8943A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1696" y="4325112"/>
            <a:ext cx="256032" cy="25603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269480" y="404164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suffers without timely feedback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868680" cy="868680"/>
          </a:xfrm>
          <a:prstGeom prst="ellipse">
            <a:avLst/>
          </a:prstGeom>
          <a:solidFill>
            <a:srgbClr val="0E7C86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7772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6217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OF THE STUDY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828800" y="8686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 and why it matters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51389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234440" y="2377440"/>
            <a:ext cx="1143000" cy="11430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192" y="2679192"/>
            <a:ext cx="539496" cy="5394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703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Teachers &amp; Instructors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234440" y="434340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6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workload and checking time spent grading handwritten programming assessments, freeing time for actual teaching and student support.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309360" y="1965960"/>
            <a:ext cx="51389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720840" y="2377440"/>
            <a:ext cx="1143000" cy="11430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2" y="2679192"/>
            <a:ext cx="539496" cy="5394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3703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Students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720840" y="434340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165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faster, more consistent feedback so students can learn from their mistakes while the material is still fresh.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DE83A3-5CBB-35C6-3D17-1B9F74C8E76D}"/>
              </a:ext>
            </a:extLst>
          </p:cNvPr>
          <p:cNvSpPr txBox="1"/>
          <p:nvPr/>
        </p:nvSpPr>
        <p:spPr>
          <a:xfrm>
            <a:off x="4729621" y="6612"/>
            <a:ext cx="3012675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ea typeface="Calibri"/>
                <a:cs typeface="Calibri"/>
              </a:rPr>
              <a:t>Conceptual </a:t>
            </a:r>
            <a:r>
              <a:rPr lang="en-US" dirty="0">
                <a:latin typeface="Times New Roman"/>
                <a:ea typeface="Calibri"/>
                <a:cs typeface="Times New Roman"/>
              </a:rPr>
              <a:t>Diagram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2CFB95-AABD-7CCC-3512-F47B59E60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0937"/>
            <a:ext cx="12192000" cy="427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861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25C5E4-B03A-BC5F-183B-C99C5AF22B3D}"/>
              </a:ext>
            </a:extLst>
          </p:cNvPr>
          <p:cNvSpPr txBox="1"/>
          <p:nvPr/>
        </p:nvSpPr>
        <p:spPr>
          <a:xfrm>
            <a:off x="3048778" y="230546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Architectural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Diagram</a:t>
            </a:r>
            <a:r>
              <a:rPr lang="en-AU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87ACE1-9A65-A0A5-B01F-DC10F2E89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75" y="1636647"/>
            <a:ext cx="725805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8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868680" cy="868680"/>
          </a:xfrm>
          <a:prstGeom prst="ellipse">
            <a:avLst/>
          </a:prstGeom>
          <a:solidFill>
            <a:srgbClr val="0E7C86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777240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6217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828800" y="8686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hope to achieve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822960" y="1920240"/>
            <a:ext cx="5029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2231136"/>
            <a:ext cx="777240" cy="777240"/>
          </a:xfrm>
          <a:prstGeom prst="ellipse">
            <a:avLst/>
          </a:prstGeom>
          <a:solidFill>
            <a:srgbClr val="E8943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441448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0312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grading time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2103120" y="26334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hours instructors currently spend marking handwritten programming work.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355080" y="1920240"/>
            <a:ext cx="5029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47688" y="2231136"/>
            <a:ext cx="777240" cy="777240"/>
          </a:xfrm>
          <a:prstGeom prst="ellipse">
            <a:avLst/>
          </a:prstGeom>
          <a:solidFill>
            <a:srgbClr val="E8943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441448"/>
            <a:ext cx="356616" cy="3566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3524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consistent scores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635240" y="26334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variation that happens between different human graders.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22960" y="3977640"/>
            <a:ext cx="5029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115568" y="4288536"/>
            <a:ext cx="777240" cy="777240"/>
          </a:xfrm>
          <a:prstGeom prst="ellipse">
            <a:avLst/>
          </a:prstGeom>
          <a:solidFill>
            <a:srgbClr val="E8943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4498848"/>
            <a:ext cx="356616" cy="3566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103120" y="4251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Timelier feedback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2103120" y="46908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students receive results sooner, while the lesson is still fresh.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355080" y="3977640"/>
            <a:ext cx="5029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47688" y="4288536"/>
            <a:ext cx="777240" cy="777240"/>
          </a:xfrm>
          <a:prstGeom prst="ellipse">
            <a:avLst/>
          </a:prstGeom>
          <a:solidFill>
            <a:srgbClr val="E8943A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4498848"/>
            <a:ext cx="356616" cy="35661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635240" y="4251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comparison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635240" y="46908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on whether MaestrAI or GradeChum grades programming work better.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outcomes for a proposal — results will depend on the methodology and evaluation once carried out.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3657600"/>
            <a:ext cx="4937760" cy="4937760"/>
          </a:xfrm>
          <a:prstGeom prst="ellipse">
            <a:avLst/>
          </a:prstGeom>
          <a:solidFill>
            <a:srgbClr val="0E7C8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E8943A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051560"/>
            <a:ext cx="1371600" cy="1371600"/>
          </a:xfrm>
          <a:prstGeom prst="ellipse">
            <a:avLst/>
          </a:prstGeom>
          <a:solidFill>
            <a:srgbClr val="E8943A"/>
          </a:solidFill>
          <a:ln/>
          <a:effectLst>
            <a:outerShdw blurRad="114300" dist="38100" dir="5400000" algn="bl" rotWithShape="0">
              <a:srgbClr val="0A2E36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138988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06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914400" y="3611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6C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50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Jayrald B. Tajanlangit   •   Francis Marc Nikko Diwa   •   John Cale N. Nombrado</a:t>
            </a:r>
            <a:endParaRPr lang="en-US" sz="15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400" dirty="0">
                <a:solidFill>
                  <a:srgbClr val="5A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Adviser:  Engr. Violdan Bayocot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5B6EEDB-7115-4964-B242-FF86002EFCC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e146b411-72c7-4a7a-88b8-11563c691a1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524</Words>
  <Application>Microsoft Office PowerPoint</Application>
  <PresentationFormat>Widescreen</PresentationFormat>
  <Paragraphs>58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MaestrAI - Thesis Proposal</dc:title>
  <dc:subject>PptxGenJS Presentation</dc:subject>
  <dc:creator>Tajanlangit, Diwa, Nombrado</dc:creator>
  <cp:lastModifiedBy>Jayrald Tajanlangit</cp:lastModifiedBy>
  <cp:revision>3</cp:revision>
  <dcterms:created xsi:type="dcterms:W3CDTF">2026-06-24T06:02:12Z</dcterms:created>
  <dcterms:modified xsi:type="dcterms:W3CDTF">2026-06-25T07:59:08Z</dcterms:modified>
</cp:coreProperties>
</file>